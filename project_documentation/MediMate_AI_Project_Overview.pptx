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49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594360"/>
            <a:ext cx="2468880" cy="2468880"/>
          </a:xfrm>
          <a:prstGeom prst="ellipse">
            <a:avLst/>
          </a:prstGeom>
          <a:solidFill>
            <a:srgbClr val="0B6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1828800"/>
            <a:ext cx="1325880" cy="1325880"/>
          </a:xfrm>
          <a:prstGeom prst="ellipse">
            <a:avLst/>
          </a:prstGeom>
          <a:solidFill>
            <a:srgbClr val="167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4114800"/>
            <a:ext cx="1920240" cy="1920240"/>
          </a:xfrm>
          <a:prstGeom prst="ellipse">
            <a:avLst/>
          </a:prstGeom>
          <a:solidFill>
            <a:srgbClr val="085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04088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8AEBD0"/>
                </a:solidFill>
                <a:latin typeface="Aptos"/>
              </a:defRPr>
            </a:pPr>
            <a:r>
              <a:t>PERSONAL HEALTH RECORDS ? LOCAL OCR ? PATIENT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7498079" cy="1417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"/>
              </a:defRPr>
            </a:pPr>
            <a:r>
              <a:t>MediMate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7040880" cy="10515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0">
                <a:solidFill>
                  <a:srgbClr val="D7F0EB"/>
                </a:solidFill>
                <a:latin typeface="Aptos"/>
              </a:defRPr>
            </a:pPr>
            <a:r>
              <a:t>A Personal Health Copilot</a:t>
            </a:r>
            <a:br/>
            <a:r>
              <a:t>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6675120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Organize records. Review extracted details. Keep the full health journey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640080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A5D5CB"/>
                </a:solidFill>
                <a:latin typeface="Aptos"/>
              </a:defRPr>
            </a:pPr>
            <a:r>
              <a:t>Project overview ? October 13,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2743200"/>
            <a:ext cx="2423160" cy="1143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LOCAL</a:t>
            </a:r>
            <a:br/>
            <a:r>
              <a:t>OCR +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6327648"/>
            <a:ext cx="274320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900" b="0">
                <a:solidFill>
                  <a:srgbClr val="BEE0D8"/>
                </a:solidFill>
                <a:latin typeface="Aptos"/>
              </a:defRPr>
            </a:pPr>
            <a:r>
              <a:t>Prototype ? not a medical device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087F70"/>
                </a:solidFill>
                <a:latin typeface="Aptos"/>
              </a:defRPr>
            </a:pPr>
            <a:r>
              <a:t>01 ? PRODUCT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53C4A"/>
                </a:solidFill>
                <a:latin typeface="Aptos"/>
              </a:defRPr>
            </a:pPr>
            <a:r>
              <a:t>One place for a fragmented health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9728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4E6870"/>
                </a:solidFill>
                <a:latin typeface="Aptos"/>
              </a:defRPr>
            </a:pPr>
            <a:r>
              <a:t>Patients need a clear way to collect reports, readings, appointments, and care notes.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914400" cy="50292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520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12264"/>
            <a:ext cx="31546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A1641B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96312"/>
            <a:ext cx="3154680" cy="12984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4E6870"/>
                </a:solidFill>
                <a:latin typeface="Aptos"/>
              </a:defRPr>
            </a:pPr>
            <a:r>
              <a:t>Medical details are spread across prescriptions, lab reports, discharge papers, notes, and appointments.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65960"/>
            <a:ext cx="3520440" cy="1920240"/>
          </a:xfrm>
          <a:prstGeom prst="roundRect">
            <a:avLst/>
          </a:prstGeom>
          <a:solidFill>
            <a:srgbClr val="E5F7F1"/>
          </a:solidFill>
          <a:ln w="12700">
            <a:solidFill>
              <a:srgbClr val="DC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112264"/>
            <a:ext cx="31546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087F70"/>
                </a:solidFill>
                <a:latin typeface="Aptos"/>
              </a:defRPr>
            </a:pPr>
            <a:r>
              <a:t>THE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496312"/>
            <a:ext cx="3154680" cy="12984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4E6870"/>
                </a:solidFill>
                <a:latin typeface="Aptos"/>
              </a:defRPr>
            </a:pPr>
            <a:r>
              <a:t>A Django patient portal for private uploads, local OCR, reviewable findings, and a chronological profile.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65960"/>
            <a:ext cx="3520440" cy="1920240"/>
          </a:xfrm>
          <a:prstGeom prst="roundRect">
            <a:avLst/>
          </a:prstGeom>
          <a:solidFill>
            <a:srgbClr val="FFF6E1"/>
          </a:solidFill>
          <a:ln w="12700">
            <a:solidFill>
              <a:srgbClr val="DC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112264"/>
            <a:ext cx="31546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A1641B"/>
                </a:solidFill>
                <a:latin typeface="Aptos"/>
              </a:defRPr>
            </a:pPr>
            <a:r>
              <a:t>THE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96312"/>
            <a:ext cx="3154680" cy="12984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4E6870"/>
                </a:solidFill>
                <a:latin typeface="Aptos"/>
              </a:defRPr>
            </a:pPr>
            <a:r>
              <a:t>It organizes and explains limited general information. It does not diagnose, prescribe, or replace care.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51560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700" b="1">
                <a:solidFill>
                  <a:srgbClr val="153C4A"/>
                </a:solidFill>
                <a:latin typeface="Aptos"/>
              </a:defRPr>
            </a:pPr>
            <a:r>
              <a:t>Core scope addressed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54880"/>
            <a:ext cx="10698480" cy="46634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E6870"/>
                </a:solidFill>
                <a:latin typeface="Aptos"/>
              </a:defRPr>
            </a:pPr>
            <a:r>
              <a:t>?  Medical record upload and extraction (limited, provisional)</a:t>
            </a:r>
          </a:p>
          <a:p>
            <a:pPr>
              <a:spcAft>
                <a:spcPts val="800"/>
              </a:spcAft>
              <a:defRPr sz="1400">
                <a:solidFill>
                  <a:srgbClr val="4E6870"/>
                </a:solidFill>
                <a:latin typeface="Aptos"/>
              </a:defRPr>
            </a:pPr>
            <a:r>
              <a:t>?  Cautious plain-language context for selected laboratory tests</a:t>
            </a:r>
          </a:p>
          <a:p>
            <a:pPr>
              <a:spcAft>
                <a:spcPts val="800"/>
              </a:spcAft>
              <a:defRPr sz="1400">
                <a:solidFill>
                  <a:srgbClr val="4E6870"/>
                </a:solidFill>
                <a:latin typeface="Aptos"/>
              </a:defRPr>
            </a:pPr>
            <a:r>
              <a:t>?  Unified health profile and timeline with owner-scoped links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4E6870"/>
                </a:solidFill>
                <a:latin typeface="Aptos"/>
              </a:defRPr>
            </a:pPr>
            <a:r>
              <a:t>MEDIMATE AI  ?  PROTOTYPE OVERVIEW  ?  OCT 13,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92240"/>
            <a:ext cx="3657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087F7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087F70"/>
                </a:solidFill>
                <a:latin typeface="Aptos"/>
              </a:defRPr>
            </a:pPr>
            <a:r>
              <a:t>02 ? CORE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53C4A"/>
                </a:solidFill>
                <a:latin typeface="Aptos"/>
              </a:defRPr>
            </a:pPr>
            <a:r>
              <a:t>From uploaded document to reviewable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9728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4E6870"/>
                </a:solidFill>
                <a:latin typeface="Aptos"/>
              </a:defRPr>
            </a:pPr>
            <a:r>
              <a:t>Original source stays available; each derived field remains provisional until checked.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914400" cy="50292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48840"/>
            <a:ext cx="16002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4712" y="1847088"/>
            <a:ext cx="530352" cy="530352"/>
          </a:xfrm>
          <a:prstGeom prst="ellipse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938528"/>
            <a:ext cx="53035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606040"/>
            <a:ext cx="137160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087F70"/>
                </a:solidFill>
                <a:latin typeface="Aptos"/>
              </a:defRPr>
            </a:pPr>
            <a:r>
              <a:t>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072384"/>
            <a:ext cx="1362456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0">
                <a:solidFill>
                  <a:srgbClr val="4E6870"/>
                </a:solidFill>
                <a:latin typeface="Aptos"/>
              </a:defRPr>
            </a:pPr>
            <a:r>
              <a:t>Select category, file, language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12848" y="3182112"/>
            <a:ext cx="283464" cy="0"/>
          </a:xfrm>
          <a:prstGeom prst="line">
            <a:avLst/>
          </a:prstGeom>
          <a:ln w="25400">
            <a:solidFill>
              <a:srgbClr val="087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542032" y="2148840"/>
            <a:ext cx="16002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72384" y="1847088"/>
            <a:ext cx="530352" cy="530352"/>
          </a:xfrm>
          <a:prstGeom prst="ellipse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2384" y="1938528"/>
            <a:ext cx="53035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606040"/>
            <a:ext cx="137160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087F70"/>
                </a:solidFill>
                <a:latin typeface="Aptos"/>
              </a:defRPr>
            </a:pPr>
            <a:r>
              <a:t>PRESERVE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0903" y="3072384"/>
            <a:ext cx="1362456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0">
                <a:solidFill>
                  <a:srgbClr val="4E6870"/>
                </a:solidFill>
                <a:latin typeface="Aptos"/>
              </a:defRPr>
            </a:pPr>
            <a:r>
              <a:t>Store original document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60520" y="3182112"/>
            <a:ext cx="283464" cy="0"/>
          </a:xfrm>
          <a:prstGeom prst="line">
            <a:avLst/>
          </a:prstGeom>
          <a:ln w="25400">
            <a:solidFill>
              <a:srgbClr val="087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89704" y="2148840"/>
            <a:ext cx="16002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20056" y="1847088"/>
            <a:ext cx="530352" cy="530352"/>
          </a:xfrm>
          <a:prstGeom prst="ellipse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0056" y="1938528"/>
            <a:ext cx="53035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2606040"/>
            <a:ext cx="137160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087F70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3072384"/>
            <a:ext cx="1362456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0">
                <a:solidFill>
                  <a:srgbClr val="4E6870"/>
                </a:solidFill>
                <a:latin typeface="Aptos"/>
              </a:defRPr>
            </a:pPr>
            <a:r>
              <a:t>PDF text or local Tesseract OCR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08192" y="3182112"/>
            <a:ext cx="283464" cy="0"/>
          </a:xfrm>
          <a:prstGeom prst="line">
            <a:avLst/>
          </a:prstGeom>
          <a:ln w="25400">
            <a:solidFill>
              <a:srgbClr val="087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37376" y="2148840"/>
            <a:ext cx="16002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967728" y="1847088"/>
            <a:ext cx="530352" cy="530352"/>
          </a:xfrm>
          <a:prstGeom prst="ellipse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67728" y="1938528"/>
            <a:ext cx="53035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7104" y="2606040"/>
            <a:ext cx="137160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087F70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6248" y="3072384"/>
            <a:ext cx="1362456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0">
                <a:solidFill>
                  <a:srgbClr val="4E6870"/>
                </a:solidFill>
                <a:latin typeface="Aptos"/>
              </a:defRPr>
            </a:pPr>
            <a:r>
              <a:t>Local patterns + catalog match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55864" y="3182112"/>
            <a:ext cx="283463" cy="0"/>
          </a:xfrm>
          <a:prstGeom prst="line">
            <a:avLst/>
          </a:prstGeom>
          <a:ln w="25400">
            <a:solidFill>
              <a:srgbClr val="087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385048" y="2148840"/>
            <a:ext cx="16002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915400" y="1847088"/>
            <a:ext cx="530352" cy="530352"/>
          </a:xfrm>
          <a:prstGeom prst="ellipse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1938528"/>
            <a:ext cx="53035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94776" y="2606040"/>
            <a:ext cx="137160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087F70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072384"/>
            <a:ext cx="1362456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0">
                <a:solidFill>
                  <a:srgbClr val="4E6870"/>
                </a:solidFill>
                <a:latin typeface="Aptos"/>
              </a:defRPr>
            </a:pPr>
            <a:r>
              <a:t>Compare and correct fields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003536" y="3182112"/>
            <a:ext cx="283464" cy="0"/>
          </a:xfrm>
          <a:prstGeom prst="line">
            <a:avLst/>
          </a:prstGeom>
          <a:ln w="25400">
            <a:solidFill>
              <a:srgbClr val="087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332720" y="2148840"/>
            <a:ext cx="16002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863072" y="1847088"/>
            <a:ext cx="530352" cy="530352"/>
          </a:xfrm>
          <a:prstGeom prst="ellipse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63072" y="1938528"/>
            <a:ext cx="53035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42448" y="2606040"/>
            <a:ext cx="137160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087F70"/>
                </a:solidFill>
                <a:latin typeface="Aptos"/>
              </a:defRPr>
            </a:pPr>
            <a:r>
              <a:t>ORGANIZE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51592" y="3072384"/>
            <a:ext cx="1362456" cy="9144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000" b="0">
                <a:solidFill>
                  <a:srgbClr val="4E6870"/>
                </a:solidFill>
                <a:latin typeface="Aptos"/>
              </a:defRPr>
            </a:pPr>
            <a:r>
              <a:t>Link report in health timeline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4709160"/>
            <a:ext cx="10561320" cy="914400"/>
          </a:xfrm>
          <a:prstGeom prst="roundRect">
            <a:avLst/>
          </a:prstGeom>
          <a:solidFill>
            <a:srgbClr val="FFF6E1"/>
          </a:solidFill>
          <a:ln w="12700">
            <a:solidFill>
              <a:srgbClr val="EFD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4910328"/>
            <a:ext cx="1010412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400" b="1">
                <a:solidFill>
                  <a:srgbClr val="A1641B"/>
                </a:solidFill>
                <a:latin typeface="Aptos"/>
              </a:defRPr>
            </a:pPr>
            <a:r>
              <a:t>Safety rule: OCR text can be wrong. Preserve source, display provenance, and never turn extraction into a diagnosis or dose recommendation.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4E6870"/>
                </a:solidFill>
                <a:latin typeface="Aptos"/>
              </a:defRPr>
            </a:pPr>
            <a:r>
              <a:t>MEDIMATE AI  ?  PROTOTYPE OVERVIEW  ?  OCT 13,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01400" y="6492240"/>
            <a:ext cx="3657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087F7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087F70"/>
                </a:solidFill>
                <a:latin typeface="Aptos"/>
              </a:defRPr>
            </a:pPr>
            <a:r>
              <a:t>03 ? MEDICAL RECORD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53C4A"/>
                </a:solidFill>
                <a:latin typeface="Aptos"/>
              </a:defRPr>
            </a:pPr>
            <a:r>
              <a:t>What the current extractor can find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9728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4E6870"/>
                </a:solidFill>
                <a:latin typeface="Aptos"/>
              </a:defRPr>
            </a:pPr>
            <a:r>
              <a:t>Coverage is deterministic and bounded; it is not a general medical-document understanding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914400" cy="50292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52578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12264"/>
            <a:ext cx="4892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087F70"/>
                </a:solidFill>
                <a:latin typeface="Aptos"/>
              </a:defRPr>
            </a:pPr>
            <a:r>
              <a:t>PRESCRIPTIONS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4892040" cy="7955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4E6870"/>
                </a:solidFill>
                <a:latin typeface="Aptos"/>
              </a:defRPr>
            </a:pPr>
            <a:r>
              <a:t>Possible exact catalog medicine matches, dosage/strength lines near a match, and limited explicit quantity 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5257800" cy="1417320"/>
          </a:xfrm>
          <a:prstGeom prst="roundRect">
            <a:avLst/>
          </a:prstGeom>
          <a:solidFill>
            <a:srgbClr val="EDF4FF"/>
          </a:solidFill>
          <a:ln w="12700">
            <a:solidFill>
              <a:srgbClr val="DC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12264"/>
            <a:ext cx="4892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087F70"/>
                </a:solidFill>
                <a:latin typeface="Aptos"/>
              </a:defRPr>
            </a:pPr>
            <a:r>
              <a:t>LAB 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96312"/>
            <a:ext cx="4892040" cy="7955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4E6870"/>
                </a:solidFill>
                <a:latin typeface="Aptos"/>
              </a:defRPr>
            </a:pPr>
            <a:r>
              <a:t>Selected named values and units; same-line numeric ranges may be compared as below / within / above.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03320"/>
            <a:ext cx="5257800" cy="1417320"/>
          </a:xfrm>
          <a:prstGeom prst="roundRect">
            <a:avLst/>
          </a:prstGeom>
          <a:solidFill>
            <a:srgbClr val="E5F7F1"/>
          </a:solidFill>
          <a:ln w="12700">
            <a:solidFill>
              <a:srgbClr val="DC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849624"/>
            <a:ext cx="4892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087F70"/>
                </a:solidFill>
                <a:latin typeface="Aptos"/>
              </a:defRPr>
            </a:pPr>
            <a:r>
              <a:t>OTHER REPORT FIELDS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33672"/>
            <a:ext cx="4892040" cy="7955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4E6870"/>
                </a:solidFill>
                <a:latin typeface="Aptos"/>
              </a:defRPr>
            </a:pPr>
            <a:r>
              <a:t>Recognizable date formats and text explicitly labeled diagnosis, impression, or assessment.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03320"/>
            <a:ext cx="5257800" cy="1417320"/>
          </a:xfrm>
          <a:prstGeom prst="roundRect">
            <a:avLst/>
          </a:prstGeom>
          <a:solidFill>
            <a:srgbClr val="FFF6E1"/>
          </a:solidFill>
          <a:ln w="12700">
            <a:solidFill>
              <a:srgbClr val="DC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849624"/>
            <a:ext cx="489204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A1641B"/>
                </a:solidFill>
                <a:latin typeface="Aptos"/>
              </a:defRPr>
            </a:pPr>
            <a:r>
              <a:t>HUMAN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33672"/>
            <a:ext cx="4892040" cy="7955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0">
                <a:solidFill>
                  <a:srgbClr val="4E6870"/>
                </a:solidFill>
                <a:latin typeface="Aptos"/>
              </a:defRPr>
            </a:pPr>
            <a:r>
              <a:t>Raw OCR remains separate from patient-entered medicine corrections. Patient review is not clinician verification.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77840"/>
            <a:ext cx="1042416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4E6870"/>
                </a:solidFill>
                <a:latin typeface="Aptos"/>
              </a:defRPr>
            </a:pPr>
            <a:r>
              <a:t>Handwriting recognition model is experimental, disconnected from full-page upload OCR, and not validated for clinical use.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4E6870"/>
                </a:solidFill>
                <a:latin typeface="Aptos"/>
              </a:defRPr>
            </a:pPr>
            <a:r>
              <a:t>MEDIMATE AI  ?  PROTOTYPE OVERVIEW  ?  OCT 13,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92240"/>
            <a:ext cx="3657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087F7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087F70"/>
                </a:solidFill>
                <a:latin typeface="Aptos"/>
              </a:defRPr>
            </a:pPr>
            <a:r>
              <a:t>04 ? PLAIN-LANGUAGE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53C4A"/>
                </a:solidFill>
                <a:latin typeface="Aptos"/>
              </a:defRPr>
            </a:pPr>
            <a:r>
              <a:t>Explain the test, not the patient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9728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4E6870"/>
                </a:solidFill>
                <a:latin typeface="Aptos"/>
              </a:defRPr>
            </a:pPr>
            <a:r>
              <a:t>Static, source-linked educational text supports a limited list of recognized lab names.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914400" cy="50292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66294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603504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153C4A"/>
                </a:solidFill>
                <a:latin typeface="Aptos"/>
              </a:defRPr>
            </a:pPr>
            <a:r>
              <a:t>Example display (illustrative)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5943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400" b="1">
                <a:solidFill>
                  <a:srgbClr val="087F70"/>
                </a:solidFill>
                <a:latin typeface="Aptos"/>
              </a:defRPr>
            </a:pPr>
            <a:r>
              <a:t>Hemoglobin ? result: compared with the report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291840"/>
            <a:ext cx="5897880" cy="46634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4E6870"/>
                </a:solidFill>
                <a:latin typeface="Aptos"/>
              </a:defRPr>
            </a:pPr>
            <a:r>
              <a:t>?  What this test generally measures</a:t>
            </a:r>
          </a:p>
          <a:p>
            <a:pPr>
              <a:spcAft>
                <a:spcPts val="600"/>
              </a:spcAft>
              <a:defRPr sz="1200">
                <a:solidFill>
                  <a:srgbClr val="4E6870"/>
                </a:solidFill>
                <a:latin typeface="Aptos"/>
              </a:defRPr>
            </a:pPr>
            <a:r>
              <a:t>?  Whether a matched numeric value is below, within, or above the printed interval</a:t>
            </a:r>
          </a:p>
          <a:p>
            <a:pPr>
              <a:spcAft>
                <a:spcPts val="600"/>
              </a:spcAft>
              <a:defRPr sz="1200">
                <a:solidFill>
                  <a:srgbClr val="4E6870"/>
                </a:solidFill>
                <a:latin typeface="Aptos"/>
              </a:defRPr>
            </a:pPr>
            <a:r>
              <a:t>?  Cautious general associations for supported out-of-range test names</a:t>
            </a:r>
          </a:p>
          <a:p>
            <a:pPr>
              <a:spcAft>
                <a:spcPts val="600"/>
              </a:spcAft>
              <a:defRPr sz="1200">
                <a:solidFill>
                  <a:srgbClr val="4E6870"/>
                </a:solidFill>
                <a:latin typeface="Aptos"/>
              </a:defRPr>
            </a:pPr>
            <a:r>
              <a:t>?  Link to general MedlinePlus lab-test information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611880" cy="3520440"/>
          </a:xfrm>
          <a:prstGeom prst="roundRect">
            <a:avLst/>
          </a:prstGeom>
          <a:solidFill>
            <a:srgbClr val="FFF6E1"/>
          </a:solidFill>
          <a:ln w="12700">
            <a:solidFill>
              <a:srgbClr val="EFDC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2267712"/>
            <a:ext cx="31089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600" b="1">
                <a:solidFill>
                  <a:srgbClr val="A1641B"/>
                </a:solidFill>
                <a:latin typeface="Aptos"/>
              </a:defRPr>
            </a:pPr>
            <a:r>
              <a:t>What it does not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2743200"/>
            <a:ext cx="3108960" cy="46634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A1641B"/>
                </a:solidFill>
                <a:latin typeface="Aptos"/>
              </a:defRPr>
            </a:pPr>
            <a:r>
              <a:t>?  No generative AI report interpretation</a:t>
            </a:r>
          </a:p>
          <a:p>
            <a:pPr>
              <a:spcAft>
                <a:spcPts val="900"/>
              </a:spcAft>
              <a:defRPr sz="1200">
                <a:solidFill>
                  <a:srgbClr val="A1641B"/>
                </a:solidFill>
                <a:latin typeface="Aptos"/>
              </a:defRPr>
            </a:pPr>
            <a:r>
              <a:t>?  No diagnosis or causal conclusion</a:t>
            </a:r>
          </a:p>
          <a:p>
            <a:pPr>
              <a:spcAft>
                <a:spcPts val="900"/>
              </a:spcAft>
              <a:defRPr sz="1200">
                <a:solidFill>
                  <a:srgbClr val="A1641B"/>
                </a:solidFill>
                <a:latin typeface="Aptos"/>
              </a:defRPr>
            </a:pPr>
            <a:r>
              <a:t>?  No treatment or medicine recommendation</a:t>
            </a:r>
          </a:p>
          <a:p>
            <a:pPr>
              <a:spcAft>
                <a:spcPts val="900"/>
              </a:spcAft>
              <a:defRPr sz="1200">
                <a:solidFill>
                  <a:srgbClr val="A1641B"/>
                </a:solidFill>
                <a:latin typeface="Aptos"/>
              </a:defRPr>
            </a:pPr>
            <a:r>
              <a:t>?  No explanation for unsupported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733288"/>
            <a:ext cx="104241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4E6870"/>
                </a:solidFill>
                <a:latin typeface="Aptos"/>
              </a:defRPr>
            </a:pPr>
            <a:r>
              <a:t>General context is not a personal medical interpretation. Reference ranges vary; verify OCR against the original.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4E6870"/>
                </a:solidFill>
                <a:latin typeface="Aptos"/>
              </a:defRPr>
            </a:pPr>
            <a:r>
              <a:t>MEDIMATE AI  ?  PROTOTYPE OVERVIEW  ?  OCT 13,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92240"/>
            <a:ext cx="3657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087F7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087F70"/>
                </a:solidFill>
                <a:latin typeface="Aptos"/>
              </a:defRPr>
            </a:pPr>
            <a:r>
              <a:t>05 ? 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53C4A"/>
                </a:solidFill>
                <a:latin typeface="Aptos"/>
              </a:defRPr>
            </a:pPr>
            <a:r>
              <a:t>Django application with local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9728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4E6870"/>
                </a:solidFill>
                <a:latin typeface="Aptos"/>
              </a:defRPr>
            </a:pPr>
            <a:r>
              <a:t>Production needs private persistent media, PostgreSQL, HTTPS, and explicit operational controls.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914400" cy="50292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331720"/>
            <a:ext cx="1874519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578608"/>
            <a:ext cx="1645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087F70"/>
                </a:solidFill>
                <a:latin typeface="Aptos"/>
              </a:defRPr>
            </a:pPr>
            <a:r>
              <a:t>USER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16002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0">
                <a:solidFill>
                  <a:srgbClr val="4E6870"/>
                </a:solidFill>
                <a:latin typeface="Aptos"/>
              </a:defRPr>
            </a:pPr>
            <a:r>
              <a:t>Templates ? Bootstrap</a:t>
            </a:r>
            <a:br/>
            <a:r>
              <a:t>Patient ? staff ? 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2331720"/>
            <a:ext cx="1874519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2578608"/>
            <a:ext cx="1645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087F70"/>
                </a:solidFill>
                <a:latin typeface="Aptos"/>
              </a:defRPr>
            </a:pPr>
            <a:r>
              <a:t>DJANGO APPS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063240"/>
            <a:ext cx="16002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0">
                <a:solidFill>
                  <a:srgbClr val="4E6870"/>
                </a:solidFill>
                <a:latin typeface="Aptos"/>
              </a:defRPr>
            </a:pPr>
            <a:r>
              <a:t>Accounts ? prescriptions</a:t>
            </a:r>
            <a:br/>
            <a:r>
              <a:t>profile ? tracking ? appointments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2331720"/>
            <a:ext cx="1874519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85232" y="2578608"/>
            <a:ext cx="1645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087F70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063240"/>
            <a:ext cx="16002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0">
                <a:solidFill>
                  <a:srgbClr val="4E6870"/>
                </a:solidFill>
                <a:latin typeface="Aptos"/>
              </a:defRPr>
            </a:pPr>
            <a:r>
              <a:t>pypdf ? PyMuPDF</a:t>
            </a:r>
            <a:br/>
            <a:r>
              <a:t>Pillow ? Tesseract ? 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2331720"/>
            <a:ext cx="1874519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71232" y="2578608"/>
            <a:ext cx="1645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087F70"/>
                </a:solidFill>
                <a:latin typeface="Aptos"/>
              </a:defRPr>
            </a:pPr>
            <a:r>
              <a:t>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063240"/>
            <a:ext cx="16002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0">
                <a:solidFill>
                  <a:srgbClr val="4E6870"/>
                </a:solidFill>
                <a:latin typeface="Aptos"/>
              </a:defRPr>
            </a:pPr>
            <a:r>
              <a:t>SQLite dev / PostgreSQL</a:t>
            </a:r>
            <a:br/>
            <a:r>
              <a:t>private media storage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60" y="2331720"/>
            <a:ext cx="1874519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57232" y="2578608"/>
            <a:ext cx="164592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087F70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3063240"/>
            <a:ext cx="16002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0">
                <a:solidFill>
                  <a:srgbClr val="4E6870"/>
                </a:solidFill>
                <a:latin typeface="Aptos"/>
              </a:defRPr>
            </a:pPr>
            <a:r>
              <a:t>Report detail</a:t>
            </a:r>
            <a:br/>
            <a:r>
              <a:t>review ? timeline ? export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478024" y="3127248"/>
            <a:ext cx="347472" cy="0"/>
          </a:xfrm>
          <a:prstGeom prst="line">
            <a:avLst/>
          </a:prstGeom>
          <a:ln w="25400">
            <a:solidFill>
              <a:srgbClr val="087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27248"/>
            <a:ext cx="347472" cy="0"/>
          </a:xfrm>
          <a:prstGeom prst="line">
            <a:avLst/>
          </a:prstGeom>
          <a:ln w="25400">
            <a:solidFill>
              <a:srgbClr val="087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50024" y="3127248"/>
            <a:ext cx="347472" cy="0"/>
          </a:xfrm>
          <a:prstGeom prst="line">
            <a:avLst/>
          </a:prstGeom>
          <a:ln w="25400">
            <a:solidFill>
              <a:srgbClr val="087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336024" y="3127248"/>
            <a:ext cx="347472" cy="0"/>
          </a:xfrm>
          <a:prstGeom prst="line">
            <a:avLst/>
          </a:prstGeom>
          <a:ln w="25400">
            <a:solidFill>
              <a:srgbClr val="087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22960" y="4434840"/>
            <a:ext cx="10515600" cy="1051560"/>
          </a:xfrm>
          <a:prstGeom prst="roundRect">
            <a:avLst/>
          </a:prstGeom>
          <a:solidFill>
            <a:srgbClr val="EDF4FF"/>
          </a:solidFill>
          <a:ln w="12700">
            <a:solidFill>
              <a:srgbClr val="CFD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645152"/>
            <a:ext cx="1005840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300" b="1">
                <a:solidFill>
                  <a:srgbClr val="153C4A"/>
                </a:solidFill>
                <a:latin typeface="Aptos"/>
              </a:defRPr>
            </a:pPr>
            <a:r>
              <a:t>Trust boundaries: authenticated owner filters ? CSRF ? upload limits ? no-store private endpoints ? audit events without extracted health 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10241280" cy="31089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100" b="1">
                <a:solidFill>
                  <a:srgbClr val="A1641B"/>
                </a:solidFill>
                <a:latin typeface="Aptos"/>
              </a:defRPr>
            </a:pPr>
            <a:r>
              <a:t>FHIR-shaped JSON and fictional ABHA-style ID are demo artifacts only; no ABDM connection or certified interoperability.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4E6870"/>
                </a:solidFill>
                <a:latin typeface="Aptos"/>
              </a:defRPr>
            </a:pPr>
            <a:r>
              <a:t>MEDIMATE AI  ?  PROTOTYPE OVERVIEW  ?  OCT 13,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92240"/>
            <a:ext cx="3657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087F7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97280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00" b="1">
                <a:solidFill>
                  <a:srgbClr val="087F70"/>
                </a:solidFill>
                <a:latin typeface="Aptos"/>
              </a:defRPr>
            </a:pPr>
            <a:r>
              <a:t>06 ? UNIFIED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700" b="1">
                <a:solidFill>
                  <a:srgbClr val="153C4A"/>
                </a:solidFill>
                <a:latin typeface="Aptos"/>
              </a:defRPr>
            </a:pPr>
            <a:r>
              <a:t>Organize the journey, not just a single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97280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4E6870"/>
                </a:solidFill>
                <a:latin typeface="Aptos"/>
              </a:defRPr>
            </a:pPr>
            <a:r>
              <a:t>The signed-in profile combines several owner-scoped care activities in chronological order.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914400" cy="50292"/>
          </a:xfrm>
          <a:prstGeom prst="rect">
            <a:avLst/>
          </a:prstGeom>
          <a:solidFill>
            <a:srgbClr val="087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901952"/>
            <a:ext cx="10287000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20824"/>
            <a:ext cx="19659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87F70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020824"/>
            <a:ext cx="75895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4E6870"/>
                </a:solidFill>
                <a:latin typeface="Aptos"/>
              </a:defRPr>
            </a:pPr>
            <a:r>
              <a:t>Uploads + review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15184"/>
            <a:ext cx="10287000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734056"/>
            <a:ext cx="19659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87F70"/>
                </a:solidFill>
                <a:latin typeface="Aptos"/>
              </a:defRPr>
            </a:pPr>
            <a:r>
              <a:t>READINGS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734056"/>
            <a:ext cx="75895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4E6870"/>
                </a:solidFill>
                <a:latin typeface="Aptos"/>
              </a:defRPr>
            </a:pPr>
            <a:r>
              <a:t>BP ? weight ? pulse ? glucose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28416"/>
            <a:ext cx="10287000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47288"/>
            <a:ext cx="19659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87F70"/>
                </a:solidFill>
                <a:latin typeface="Aptos"/>
              </a:defRPr>
            </a:pPr>
            <a:r>
              <a:t>APPOINTMENTS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447288"/>
            <a:ext cx="75895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4E6870"/>
                </a:solidFill>
                <a:latin typeface="Aptos"/>
              </a:defRPr>
            </a:pPr>
            <a:r>
              <a:t>Requests ? outcomes ? letters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041648"/>
            <a:ext cx="10287000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160520"/>
            <a:ext cx="19659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87F70"/>
                </a:solidFill>
                <a:latin typeface="Aptos"/>
              </a:defRPr>
            </a:pPr>
            <a:r>
              <a:t>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4160520"/>
            <a:ext cx="75895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4E6870"/>
                </a:solidFill>
                <a:latin typeface="Aptos"/>
              </a:defRPr>
            </a:pPr>
            <a:r>
              <a:t>Personal medical records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754880"/>
            <a:ext cx="10287000" cy="557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873752"/>
            <a:ext cx="196596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1">
                <a:solidFill>
                  <a:srgbClr val="087F70"/>
                </a:solidFill>
                <a:latin typeface="Aptos"/>
              </a:defRPr>
            </a:pPr>
            <a:r>
              <a:t>ACTIVITY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4873752"/>
            <a:ext cx="75895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00" b="0">
                <a:solidFill>
                  <a:srgbClr val="4E6870"/>
                </a:solidFill>
                <a:latin typeface="Aptos"/>
              </a:defRPr>
            </a:pPr>
            <a:r>
              <a:t>Notifications and reminders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715000"/>
            <a:ext cx="1024128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4E6870"/>
                </a:solidFill>
                <a:latin typeface="Aptos"/>
              </a:defRPr>
            </a:pPr>
            <a:r>
              <a:t>Timeline items link to individual details. Current implementation shows a bounded recent history, not unlimited analytics.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0">
                <a:solidFill>
                  <a:srgbClr val="4E6870"/>
                </a:solidFill>
                <a:latin typeface="Aptos"/>
              </a:defRPr>
            </a:pPr>
            <a:r>
              <a:t>MEDIMATE AI  ?  PROTOTYPE OVERVIEW  ?  OCT 13,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92240"/>
            <a:ext cx="3657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087F7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49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8992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00" b="1">
                <a:solidFill>
                  <a:srgbClr val="8AEBD0"/>
                </a:solidFill>
                <a:latin typeface="Aptos"/>
              </a:defRPr>
            </a:pPr>
            <a:r>
              <a:t>07 ? STATUS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A useful prototype?with transparent limits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5074920" cy="3337560"/>
          </a:xfrm>
          <a:prstGeom prst="roundRect">
            <a:avLst/>
          </a:prstGeom>
          <a:solidFill>
            <a:srgbClr val="085D54"/>
          </a:solidFill>
          <a:ln w="12700">
            <a:solidFill>
              <a:srgbClr val="2A8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331720"/>
            <a:ext cx="45262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8AEBD0"/>
                </a:solidFill>
                <a:latin typeface="Aptos"/>
              </a:defRPr>
            </a:pPr>
            <a:r>
              <a:t>WHAT WORKS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788920"/>
            <a:ext cx="4480560" cy="46634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?  Local document OCR and basic extraction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?  Owner-scoped report review and profile timeline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?  Bounded source-linked lab context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?  Appointments, notifications, and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011680"/>
            <a:ext cx="5074920" cy="3337560"/>
          </a:xfrm>
          <a:prstGeom prst="roundRect">
            <a:avLst/>
          </a:prstGeom>
          <a:solidFill>
            <a:srgbClr val="085D54"/>
          </a:solidFill>
          <a:ln w="12700">
            <a:solidFill>
              <a:srgbClr val="2A8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331720"/>
            <a:ext cx="452628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1">
                <a:solidFill>
                  <a:srgbClr val="FFCF7D"/>
                </a:solidFill>
                <a:latin typeface="Aptos"/>
              </a:defRPr>
            </a:pPr>
            <a:r>
              <a:t>NEXT TO VALIDATE /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788920"/>
            <a:ext cx="4480560" cy="46634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?  Measure OCR and field accuracy on verified reports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?  Clinically review explanation library and workflows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?  Production private storage, retention, and monitoring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?  Validate FHIR/ABDM requirements before claiming readiness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806440"/>
            <a:ext cx="1042416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>
              <a:defRPr sz="1200" b="1">
                <a:solidFill>
                  <a:srgbClr val="DFF1EC"/>
                </a:solidFill>
                <a:latin typeface="Aptos"/>
              </a:defRPr>
            </a:pPr>
            <a:r>
              <a:t>MediMate AI organizes and presents information; it does not diagnose or replace a qualified healthcare professional.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46520"/>
            <a:ext cx="731520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800" b="1">
                <a:solidFill>
                  <a:srgbClr val="A5D5CB"/>
                </a:solidFill>
                <a:latin typeface="Aptos"/>
              </a:defRPr>
            </a:pPr>
            <a:r>
              <a:t>DEMO WITH SYNTHETIC DATA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45720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>
              <a:defRPr sz="900" b="1">
                <a:solidFill>
                  <a:srgbClr val="8AEBD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MediMate AI ? Project Overview</dc:title>
  <dc:subject>Product, architecture, workflow, scope, and limitations</dc:subject>
  <dc:creator>MediMate AI Project Team</dc:creator>
  <cp:keywords>health records, OCR, patient timeline, prototype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